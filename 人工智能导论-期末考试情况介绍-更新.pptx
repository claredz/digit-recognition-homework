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0" r:id="rId2"/>
    <p:sldId id="16671869" r:id="rId3"/>
    <p:sldId id="16671878" r:id="rId4"/>
    <p:sldId id="16671961" r:id="rId5"/>
    <p:sldId id="16671868" r:id="rId6"/>
    <p:sldId id="16671962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8" userDrawn="1">
          <p15:clr>
            <a:srgbClr val="A4A3A4"/>
          </p15:clr>
        </p15:guide>
        <p15:guide id="2" pos="64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fzx04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00CC"/>
    <a:srgbClr val="253690"/>
    <a:srgbClr val="FFFFFF"/>
    <a:srgbClr val="ED7D31"/>
    <a:srgbClr val="002060"/>
    <a:srgbClr val="0070C0"/>
    <a:srgbClr val="404040"/>
    <a:srgbClr val="00447C"/>
    <a:srgbClr val="FBE5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501" autoAdjust="0"/>
    <p:restoredTop sz="96387" autoAdjust="0"/>
  </p:normalViewPr>
  <p:slideViewPr>
    <p:cSldViewPr showGuides="1">
      <p:cViewPr varScale="1">
        <p:scale>
          <a:sx n="127" d="100"/>
          <a:sy n="127" d="100"/>
        </p:scale>
        <p:origin x="738" y="114"/>
      </p:cViewPr>
      <p:guideLst>
        <p:guide orient="horz" pos="2248"/>
        <p:guide pos="644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7DC082-F87B-4C7A-9D47-03419FF8A36D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3F79A-EEDD-484F-94E5-8F67C291B6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44500" y="1243013"/>
            <a:ext cx="5969000" cy="33575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57200">
              <a:defRPr/>
            </a:pPr>
            <a:fld id="{418F03C3-53C1-4F10-8DAF-D1F318E96C6E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4DB5-5789-80AE-BAA3-51261FB3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465DFA-F399-67A0-D5BF-5769956A3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763AEC-AEE6-A486-B939-CB8104D88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62B6A9-1102-5A6E-1367-9E98E5182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3F79A-EEDD-484F-94E5-8F67C291B62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062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4DB5-5789-80AE-BAA3-51261FB3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465DFA-F399-67A0-D5BF-5769956A3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763AEC-AEE6-A486-B939-CB8104D88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62B6A9-1102-5A6E-1367-9E98E5182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3F79A-EEDD-484F-94E5-8F67C291B62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839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4DB5-5789-80AE-BAA3-51261FB3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465DFA-F399-67A0-D5BF-5769956A3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763AEC-AEE6-A486-B939-CB8104D88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62B6A9-1102-5A6E-1367-9E98E5182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3F79A-EEDD-484F-94E5-8F67C291B62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799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4DB5-5789-80AE-BAA3-51261FB3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465DFA-F399-67A0-D5BF-5769956A3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763AEC-AEE6-A486-B939-CB8104D88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生成模型学习的不是某一个固定答案，而是训练数据背后的概率分布。比如训练集中有猫的图片、房屋图片、手写数字和语音片段，模型要学习这些样本是如何分布的。学到分布之后，模型就可以从这个分布中采样，生成新的猫、新的房屋、新的数字或新的语音。这里有一个关键点：生成模型不是简单记住训练样本，而是学习数据背后的规律，再生成相似但不完全相同的新样本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62B6A9-1102-5A6E-1367-9E98E5182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3F79A-EEDD-484F-94E5-8F67C291B62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674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4DB5-5789-80AE-BAA3-51261FB35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465DFA-F399-67A0-D5BF-5769956A3B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763AEC-AEE6-A486-B939-CB8104D88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62B6A9-1102-5A6E-1367-9E98E5182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3F79A-EEDD-484F-94E5-8F67C291B62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637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0814B-53EF-4D33-8121-1A3DED89E23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2026/6/3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B4716-7DBF-4979-9C0C-A1F61F58139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4"/>
          <p:cNvSpPr/>
          <p:nvPr userDrawn="1"/>
        </p:nvSpPr>
        <p:spPr>
          <a:xfrm>
            <a:off x="0" y="-9750"/>
            <a:ext cx="12194332" cy="79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solidFill>
                <a:prstClr val="white"/>
              </a:solidFill>
            </a:endParaRPr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11733750" y="-6329"/>
            <a:ext cx="458250" cy="3381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6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B08C3E-A56D-478A-9CEF-BE0F486531F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 flipH="1">
            <a:off x="0" y="6741368"/>
            <a:ext cx="12192000" cy="131146"/>
          </a:xfrm>
          <a:prstGeom prst="rect">
            <a:avLst/>
          </a:prstGeom>
          <a:gradFill>
            <a:gsLst>
              <a:gs pos="56000">
                <a:srgbClr val="104F7F">
                  <a:alpha val="80000"/>
                </a:srgbClr>
              </a:gs>
              <a:gs pos="10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68421" tIns="34214" rIns="68421" bIns="34214" rtlCol="0" anchor="ctr"/>
          <a:lstStyle/>
          <a:p>
            <a:pPr marL="0" marR="0" lvl="0" indent="0" algn="ctr" defTabSz="9124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4"/>
          <p:cNvSpPr/>
          <p:nvPr userDrawn="1"/>
        </p:nvSpPr>
        <p:spPr>
          <a:xfrm>
            <a:off x="0" y="-9750"/>
            <a:ext cx="12194332" cy="79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solidFill>
                <a:prstClr val="white"/>
              </a:solidFill>
            </a:endParaRPr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11733750" y="-6329"/>
            <a:ext cx="458250" cy="3381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6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B08C3E-A56D-478A-9CEF-BE0F486531F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 flipH="1">
            <a:off x="0" y="6741368"/>
            <a:ext cx="12192000" cy="131146"/>
          </a:xfrm>
          <a:prstGeom prst="rect">
            <a:avLst/>
          </a:prstGeom>
          <a:gradFill>
            <a:gsLst>
              <a:gs pos="56000">
                <a:srgbClr val="104F7F">
                  <a:alpha val="80000"/>
                </a:srgbClr>
              </a:gs>
              <a:gs pos="10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68421" tIns="34214" rIns="68421" bIns="34214" rtlCol="0" anchor="ctr"/>
          <a:lstStyle/>
          <a:p>
            <a:pPr marL="0" marR="0" lvl="0" indent="0" algn="ctr" defTabSz="9124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4"/>
          <p:cNvSpPr/>
          <p:nvPr userDrawn="1"/>
        </p:nvSpPr>
        <p:spPr>
          <a:xfrm>
            <a:off x="0" y="-9750"/>
            <a:ext cx="12194332" cy="792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>
              <a:solidFill>
                <a:prstClr val="white"/>
              </a:solidFill>
            </a:endParaRPr>
          </a:p>
        </p:txBody>
      </p:sp>
      <p:sp>
        <p:nvSpPr>
          <p:cNvPr id="16" name="矩形 15"/>
          <p:cNvSpPr/>
          <p:nvPr userDrawn="1"/>
        </p:nvSpPr>
        <p:spPr>
          <a:xfrm flipH="1">
            <a:off x="0" y="6741368"/>
            <a:ext cx="12192000" cy="131146"/>
          </a:xfrm>
          <a:prstGeom prst="rect">
            <a:avLst/>
          </a:prstGeom>
          <a:gradFill>
            <a:gsLst>
              <a:gs pos="56000">
                <a:srgbClr val="104F7F">
                  <a:alpha val="80000"/>
                </a:srgbClr>
              </a:gs>
              <a:gs pos="100000">
                <a:srgbClr val="C00000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68421" tIns="34214" rIns="68421" bIns="34214" rtlCol="0" anchor="ctr"/>
          <a:lstStyle/>
          <a:p>
            <a:pPr marL="0" marR="0" lvl="0" indent="0" algn="ctr" defTabSz="9124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灯片编号占位符 5"/>
          <p:cNvSpPr txBox="1"/>
          <p:nvPr userDrawn="1"/>
        </p:nvSpPr>
        <p:spPr>
          <a:xfrm>
            <a:off x="11733750" y="-6329"/>
            <a:ext cx="458250" cy="3381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6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B08C3E-A56D-478A-9CEF-BE0F486531F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36360" y="6392054"/>
            <a:ext cx="27432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2" y="790800"/>
            <a:ext cx="12192004" cy="46800"/>
            <a:chOff x="-1" y="764704"/>
            <a:chExt cx="9108145" cy="36000"/>
          </a:xfrm>
        </p:grpSpPr>
        <p:sp>
          <p:nvSpPr>
            <p:cNvPr id="8" name="矩形 18"/>
            <p:cNvSpPr/>
            <p:nvPr userDrawn="1"/>
          </p:nvSpPr>
          <p:spPr>
            <a:xfrm>
              <a:off x="-1" y="764704"/>
              <a:ext cx="722019" cy="36000"/>
            </a:xfrm>
            <a:custGeom>
              <a:avLst/>
              <a:gdLst/>
              <a:ahLst/>
              <a:cxnLst/>
              <a:rect l="l" t="t" r="r" b="b"/>
              <a:pathLst>
                <a:path w="722019" h="72008">
                  <a:moveTo>
                    <a:pt x="0" y="0"/>
                  </a:moveTo>
                  <a:lnTo>
                    <a:pt x="722019" y="0"/>
                  </a:lnTo>
                  <a:lnTo>
                    <a:pt x="669886" y="72008"/>
                  </a:lnTo>
                  <a:lnTo>
                    <a:pt x="0" y="72008"/>
                  </a:ln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矩形 19"/>
            <p:cNvSpPr/>
            <p:nvPr userDrawn="1"/>
          </p:nvSpPr>
          <p:spPr>
            <a:xfrm>
              <a:off x="724262" y="764704"/>
              <a:ext cx="8383882" cy="36000"/>
            </a:xfrm>
            <a:custGeom>
              <a:avLst/>
              <a:gdLst/>
              <a:ahLst/>
              <a:cxnLst/>
              <a:rect l="l" t="t" r="r" b="b"/>
              <a:pathLst>
                <a:path w="8383882" h="72008">
                  <a:moveTo>
                    <a:pt x="52133" y="0"/>
                  </a:moveTo>
                  <a:lnTo>
                    <a:pt x="128623" y="0"/>
                  </a:lnTo>
                  <a:lnTo>
                    <a:pt x="8307392" y="0"/>
                  </a:lnTo>
                  <a:lnTo>
                    <a:pt x="8383882" y="0"/>
                  </a:lnTo>
                  <a:lnTo>
                    <a:pt x="8383882" y="72008"/>
                  </a:lnTo>
                  <a:lnTo>
                    <a:pt x="8307392" y="72008"/>
                  </a:lnTo>
                  <a:lnTo>
                    <a:pt x="76490" y="72008"/>
                  </a:lnTo>
                  <a:lnTo>
                    <a:pt x="0" y="72008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752299" cy="539073"/>
          </a:xfrm>
          <a:prstGeom prst="rect">
            <a:avLst/>
          </a:prstGeom>
        </p:spPr>
        <p:txBody>
          <a:bodyPr anchor="ctr"/>
          <a:lstStyle>
            <a:lvl1pPr algn="l">
              <a:defRPr sz="32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框 2"/>
          <p:cNvSpPr txBox="1"/>
          <p:nvPr userDrawn="1"/>
        </p:nvSpPr>
        <p:spPr>
          <a:xfrm>
            <a:off x="-2" y="-2624"/>
            <a:ext cx="524378" cy="75600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 txBox="1"/>
          <p:nvPr userDrawn="1"/>
        </p:nvSpPr>
        <p:spPr>
          <a:xfrm>
            <a:off x="11588970" y="6403243"/>
            <a:ext cx="458250" cy="3381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zh-CN"/>
            </a:defPPr>
            <a:lvl1pPr marL="0" algn="r" defTabSz="914400" rtl="0" eaLnBrk="1" latinLnBrk="0" hangingPunct="1">
              <a:defRPr sz="16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B08C3E-A56D-478A-9CEF-BE0F486531FB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5A078-663F-4DB8-B56D-E40A0A6E2174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8E78A-7B86-4BCA-9615-93103E8191D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524000" y="116632"/>
            <a:ext cx="2663042" cy="529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kumimoji="1" lang="zh-CN" altLang="en-US" sz="1350">
              <a:solidFill>
                <a:prstClr val="white"/>
              </a:solidFill>
            </a:endParaRPr>
          </a:p>
        </p:txBody>
      </p:sp>
      <p:sp>
        <p:nvSpPr>
          <p:cNvPr id="5" name="Rectangle 474"/>
          <p:cNvSpPr txBox="1">
            <a:spLocks noChangeArrowheads="1"/>
          </p:cNvSpPr>
          <p:nvPr/>
        </p:nvSpPr>
        <p:spPr>
          <a:xfrm>
            <a:off x="551384" y="628619"/>
            <a:ext cx="11269980" cy="153924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76"/>
          <p:cNvSpPr txBox="1">
            <a:spLocks noChangeArrowheads="1"/>
          </p:cNvSpPr>
          <p:nvPr/>
        </p:nvSpPr>
        <p:spPr bwMode="auto">
          <a:xfrm>
            <a:off x="24680" y="5633843"/>
            <a:ext cx="12192000" cy="63690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7" rIns="0" bIns="45717" numCol="1" anchor="t" anchorCtr="0" compatLnSpc="1"/>
          <a:lstStyle>
            <a:lvl1pPr marL="68580" indent="-68580" algn="l" rtl="0" eaLnBrk="0" fontAlgn="base" hangingPunct="0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 "/>
              <a:defRPr sz="3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288925" indent="-139700" algn="l" rtl="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300">
                <a:solidFill>
                  <a:srgbClr val="404040"/>
                </a:solidFill>
                <a:latin typeface="+mn-lt"/>
                <a:ea typeface="+mn-ea"/>
              </a:defRPr>
            </a:lvl2pPr>
            <a:lvl3pPr marL="425450" indent="-136525" algn="l" rtl="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3pPr>
            <a:lvl4pPr marL="561975" indent="-136525" algn="l" rtl="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4pPr>
            <a:lvl5pPr marL="700405" indent="-139700" algn="l" rtl="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5pPr>
            <a:lvl6pPr marL="1157605" indent="-139700" algn="l" rtl="0" fontAlgn="base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6pPr>
            <a:lvl7pPr marL="1614805" indent="-139700" algn="l" rtl="0" fontAlgn="base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7pPr>
            <a:lvl8pPr marL="2072005" indent="-139700" algn="l" rtl="0" fontAlgn="base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8pPr>
            <a:lvl9pPr marL="2529205" indent="-139700" algn="l" rtl="0" fontAlgn="base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lnSpc>
                <a:spcPct val="150000"/>
              </a:lnSpc>
              <a:buFont typeface="Calibri" panose="020F0502020204030204" pitchFamily="34" charset="0"/>
              <a:buNone/>
            </a:pPr>
            <a:r>
              <a:rPr lang="en-US" altLang="en-US" sz="18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en-US" altLang="zh-CN" sz="18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lang="en-US" altLang="en-US" sz="18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8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r>
              <a:rPr lang="en-US" altLang="en-US" sz="18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月03</a:t>
            </a:r>
            <a:r>
              <a:rPr lang="zh-CN" altLang="en-US" sz="18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1535230"/>
            <a:ext cx="12184380" cy="2014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人工智能导论</a:t>
            </a:r>
            <a:r>
              <a:rPr lang="en-US" altLang="zh-CN" sz="4800" b="1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(Introduction to AI)</a:t>
            </a:r>
          </a:p>
          <a:p>
            <a:pPr algn="ctr">
              <a:lnSpc>
                <a:spcPct val="150000"/>
              </a:lnSpc>
            </a:pPr>
            <a:r>
              <a:rPr lang="zh-CN" altLang="en-US" sz="4000" b="1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期末考试详细情况说明</a:t>
            </a:r>
          </a:p>
        </p:txBody>
      </p:sp>
      <p:sp>
        <p:nvSpPr>
          <p:cNvPr id="13" name="Rectangle 476"/>
          <p:cNvSpPr txBox="1">
            <a:spLocks noChangeArrowheads="1"/>
          </p:cNvSpPr>
          <p:nvPr/>
        </p:nvSpPr>
        <p:spPr bwMode="auto">
          <a:xfrm>
            <a:off x="0" y="4143566"/>
            <a:ext cx="12192000" cy="72008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17" rIns="0" bIns="45717" numCol="1" anchor="t" anchorCtr="0" compatLnSpc="1"/>
          <a:lstStyle>
            <a:lvl1pPr marL="68580" indent="-68580" algn="l" rtl="0" eaLnBrk="0" fontAlgn="base" hangingPunct="0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 "/>
              <a:defRPr sz="3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288925" indent="-139700" algn="l" rtl="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300">
                <a:solidFill>
                  <a:srgbClr val="404040"/>
                </a:solidFill>
                <a:latin typeface="+mn-lt"/>
                <a:ea typeface="+mn-ea"/>
              </a:defRPr>
            </a:lvl2pPr>
            <a:lvl3pPr marL="425450" indent="-136525" algn="l" rtl="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3pPr>
            <a:lvl4pPr marL="561975" indent="-136525" algn="l" rtl="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4pPr>
            <a:lvl5pPr marL="700405" indent="-139700" algn="l" rtl="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5pPr>
            <a:lvl6pPr marL="1157605" indent="-139700" algn="l" rtl="0" fontAlgn="base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6pPr>
            <a:lvl7pPr marL="1614805" indent="-139700" algn="l" rtl="0" fontAlgn="base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7pPr>
            <a:lvl8pPr marL="2072005" indent="-139700" algn="l" rtl="0" fontAlgn="base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8pPr>
            <a:lvl9pPr marL="2529205" indent="-139700" algn="l" rtl="0" fontAlgn="base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rgbClr val="0B4DA2"/>
              </a:buClr>
              <a:buSzPct val="100000"/>
              <a:buFont typeface="Calibri" panose="020F0502020204030204" pitchFamily="34" charset="0"/>
              <a:buChar char="◦"/>
              <a:defRPr sz="1000">
                <a:solidFill>
                  <a:srgbClr val="404040"/>
                </a:solidFill>
                <a:latin typeface="+mn-lt"/>
                <a:ea typeface="+mn-ea"/>
              </a:defRPr>
            </a:lvl9pPr>
          </a:lstStyle>
          <a:p>
            <a:pPr marL="0" indent="0" algn="ctr" eaLnBrk="1" hangingPunct="1">
              <a:lnSpc>
                <a:spcPct val="150000"/>
              </a:lnSpc>
              <a:buFont typeface="Calibri" panose="020F0502020204030204" pitchFamily="34" charset="0"/>
              <a:buNone/>
            </a:pPr>
            <a:r>
              <a:rPr lang="zh-CN" altLang="en-US" sz="24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授课教师</a:t>
            </a:r>
            <a:r>
              <a:rPr lang="en-US" altLang="zh-CN" sz="24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熊杰</a:t>
            </a:r>
            <a:endParaRPr lang="en-US" altLang="zh-CN" sz="2400" b="1" kern="0" spc="300" dirty="0">
              <a:solidFill>
                <a:srgbClr val="2536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 eaLnBrk="1" hangingPunct="1">
              <a:lnSpc>
                <a:spcPct val="150000"/>
              </a:lnSpc>
              <a:buFont typeface="Calibri" panose="020F0502020204030204" pitchFamily="34" charset="0"/>
              <a:buNone/>
            </a:pPr>
            <a:r>
              <a:rPr lang="zh-CN" altLang="en-US" sz="24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r>
              <a:rPr lang="en-US" altLang="zh-CN" sz="2400" b="1" kern="0" spc="300" dirty="0">
                <a:solidFill>
                  <a:srgbClr val="25369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xiongjie@shu.edu.cn</a:t>
            </a:r>
            <a:endParaRPr lang="zh-CN" altLang="en-US" sz="2400" b="1" kern="0" spc="300" dirty="0">
              <a:solidFill>
                <a:srgbClr val="25369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1" t="27361" r="26834" b="27634"/>
          <a:stretch>
            <a:fillRect/>
          </a:stretch>
        </p:blipFill>
        <p:spPr bwMode="auto">
          <a:xfrm>
            <a:off x="119336" y="19019"/>
            <a:ext cx="1818636" cy="74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95F33-E142-285D-557C-29DDEF4C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6996397-E29C-A865-0D2E-70CD931BADBB}"/>
              </a:ext>
            </a:extLst>
          </p:cNvPr>
          <p:cNvSpPr txBox="1"/>
          <p:nvPr/>
        </p:nvSpPr>
        <p:spPr>
          <a:xfrm>
            <a:off x="259080" y="104260"/>
            <a:ext cx="11885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1" i="0" u="none" strike="noStrike" cap="none" spc="0" normalizeH="0" baseline="0">
                <a:ln>
                  <a:noFill/>
                </a:ln>
                <a:solidFill>
                  <a:srgbClr val="25369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0000CC"/>
                </a:solidFill>
                <a:sym typeface="+mn-ea"/>
              </a:rPr>
              <a:t>期末周安排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A2353D-FAC0-4FA2-9E46-26A571219EAA}"/>
              </a:ext>
            </a:extLst>
          </p:cNvPr>
          <p:cNvSpPr/>
          <p:nvPr/>
        </p:nvSpPr>
        <p:spPr>
          <a:xfrm>
            <a:off x="531246" y="1268760"/>
            <a:ext cx="1134126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周，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周一，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团队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汇报、并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提交纸质版课程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报告（电子版发送至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班任课教师邮箱，报告由五个班级任课教师集体评分）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小组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8-10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所有组员提问，确认组内组员贡献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周，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周三，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日下午三点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实时开放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榜双榜分数，最终冲击打榜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082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95F33-E142-285D-557C-29DDEF4C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6996397-E29C-A865-0D2E-70CD931BADBB}"/>
              </a:ext>
            </a:extLst>
          </p:cNvPr>
          <p:cNvSpPr txBox="1"/>
          <p:nvPr/>
        </p:nvSpPr>
        <p:spPr>
          <a:xfrm>
            <a:off x="259080" y="104260"/>
            <a:ext cx="11885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1" i="0" u="none" strike="noStrike" cap="none" spc="0" normalizeH="0" baseline="0">
                <a:ln>
                  <a:noFill/>
                </a:ln>
                <a:solidFill>
                  <a:srgbClr val="25369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0000CC"/>
                </a:solidFill>
                <a:sym typeface="+mn-ea"/>
              </a:rPr>
              <a:t>个人挑战赛规则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53B015-F19E-46E4-B94C-94FE784A3893}"/>
              </a:ext>
            </a:extLst>
          </p:cNvPr>
          <p:cNvSpPr/>
          <p:nvPr/>
        </p:nvSpPr>
        <p:spPr>
          <a:xfrm>
            <a:off x="531246" y="1052736"/>
            <a:ext cx="1134126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预测打榜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系统后台已经部署，但目前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尚未开放自主上传，需要先收集一批模型进行测试。请大家按以下要求打包，通过邮箱发送至 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yihengshen@shu.edu.cn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，本次提交成绩视同正式提交，但不强制要求。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本课程共可提交六次模型权重及相关代码，请将你的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模型权重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（包含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ckpt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pkl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等格式）和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预测脚本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predict.py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文件打包提交，压缩包需命名为“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.zip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379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95F33-E142-285D-557C-29DDEF4C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6996397-E29C-A865-0D2E-70CD931BADBB}"/>
              </a:ext>
            </a:extLst>
          </p:cNvPr>
          <p:cNvSpPr txBox="1"/>
          <p:nvPr/>
        </p:nvSpPr>
        <p:spPr>
          <a:xfrm>
            <a:off x="259080" y="104260"/>
            <a:ext cx="11885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1" i="0" u="none" strike="noStrike" cap="none" spc="0" normalizeH="0" baseline="0">
                <a:ln>
                  <a:noFill/>
                </a:ln>
                <a:solidFill>
                  <a:srgbClr val="25369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dirty="0">
                <a:solidFill>
                  <a:srgbClr val="0000CC"/>
                </a:solidFill>
                <a:sym typeface="+mn-ea"/>
              </a:rPr>
              <a:t>挑战赛环境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18E5E0-28C2-4D3D-B923-BEC44E460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412776"/>
            <a:ext cx="4032448" cy="477457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650A7FC-43F2-4FC2-A367-772AF0166D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60"/>
          <a:stretch/>
        </p:blipFill>
        <p:spPr>
          <a:xfrm>
            <a:off x="4740519" y="1340768"/>
            <a:ext cx="7220717" cy="21568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557BB1B-F810-43C6-8058-157636669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872" y="3671283"/>
            <a:ext cx="6901836" cy="249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247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95F33-E142-285D-557C-29DDEF4C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6996397-E29C-A865-0D2E-70CD931BADBB}"/>
              </a:ext>
            </a:extLst>
          </p:cNvPr>
          <p:cNvSpPr txBox="1"/>
          <p:nvPr/>
        </p:nvSpPr>
        <p:spPr>
          <a:xfrm>
            <a:off x="259080" y="104260"/>
            <a:ext cx="11885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1" i="0" u="none" strike="noStrike" cap="none" spc="0" normalizeH="0" baseline="0">
                <a:ln>
                  <a:noFill/>
                </a:ln>
                <a:solidFill>
                  <a:srgbClr val="25369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dirty="0" err="1">
                <a:solidFill>
                  <a:srgbClr val="0000CC"/>
                </a:solidFill>
                <a:sym typeface="+mn-ea"/>
              </a:rPr>
              <a:t>TestA</a:t>
            </a:r>
            <a:r>
              <a:rPr lang="en-US" altLang="zh-CN" dirty="0">
                <a:solidFill>
                  <a:srgbClr val="0000CC"/>
                </a:solidFill>
                <a:sym typeface="+mn-ea"/>
              </a:rPr>
              <a:t>/</a:t>
            </a:r>
            <a:r>
              <a:rPr lang="en-US" altLang="zh-CN" dirty="0" err="1">
                <a:solidFill>
                  <a:srgbClr val="0000CC"/>
                </a:solidFill>
                <a:sym typeface="+mn-ea"/>
              </a:rPr>
              <a:t>TestB</a:t>
            </a:r>
            <a:r>
              <a:rPr lang="en-US" altLang="zh-CN" dirty="0">
                <a:solidFill>
                  <a:srgbClr val="0000CC"/>
                </a:solidFill>
                <a:sym typeface="+mn-ea"/>
              </a:rPr>
              <a:t> </a:t>
            </a:r>
            <a:r>
              <a:rPr lang="zh-CN" altLang="en-US" dirty="0">
                <a:solidFill>
                  <a:srgbClr val="0000CC"/>
                </a:solidFill>
                <a:sym typeface="+mn-ea"/>
              </a:rPr>
              <a:t>预览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081314-AC18-48BB-A80E-AE9794F8B6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4" y="1052736"/>
            <a:ext cx="5460621" cy="54606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5AA2CE-803C-456A-9066-D0199190B3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366" y="1087334"/>
            <a:ext cx="5395250" cy="53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60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95F33-E142-285D-557C-29DDEF4C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6996397-E29C-A865-0D2E-70CD931BADBB}"/>
              </a:ext>
            </a:extLst>
          </p:cNvPr>
          <p:cNvSpPr txBox="1"/>
          <p:nvPr/>
        </p:nvSpPr>
        <p:spPr>
          <a:xfrm>
            <a:off x="259080" y="104260"/>
            <a:ext cx="11885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3200" b="1" i="0" u="none" strike="noStrike" cap="none" spc="0" normalizeH="0" baseline="0">
                <a:ln>
                  <a:noFill/>
                </a:ln>
                <a:solidFill>
                  <a:srgbClr val="25369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dirty="0">
                <a:solidFill>
                  <a:srgbClr val="0000CC"/>
                </a:solidFill>
                <a:sym typeface="+mn-ea"/>
              </a:rPr>
              <a:t>BASELINE</a:t>
            </a:r>
            <a:r>
              <a:rPr lang="zh-CN" altLang="en-US" dirty="0">
                <a:solidFill>
                  <a:srgbClr val="0000CC"/>
                </a:solidFill>
                <a:sym typeface="+mn-ea"/>
              </a:rPr>
              <a:t>及挑战奖励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941441-3655-431E-AA81-F2B005C3356E}"/>
              </a:ext>
            </a:extLst>
          </p:cNvPr>
          <p:cNvSpPr/>
          <p:nvPr/>
        </p:nvSpPr>
        <p:spPr>
          <a:xfrm>
            <a:off x="531246" y="1268760"/>
            <a:ext cx="11341260" cy="5186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仅使用简单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，未经过复杂调参、数据增强、对比学习等手段，测试在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A/B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数据集上预测精度分别为：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48%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79.5%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仅在一张</a:t>
            </a:r>
            <a:r>
              <a:rPr lang="en-US" altLang="zh-CN" sz="28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TitanX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上训练两分钟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因此，本次项目给予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挑战奖励机制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当测试集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的预测精度达到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85%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的基础上，测试集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的精度可以达到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及以上时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，在期末总分外，额外提供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分的挑战分奖励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83979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dc1e168-7cbb-4bf1-ab19-c9277af12375"/>
  <p:tag name="COMMONDATA" val="eyJoZGlkIjoiNTAzYmY0NDVkZTVmMjJiMTkxMGM1OGZkY2UxNGVlY2QifQ=="/>
</p:tagLst>
</file>

<file path=ppt/theme/theme1.xml><?xml version="1.0" encoding="utf-8"?>
<a:theme xmlns:a="http://schemas.openxmlformats.org/drawingml/2006/main" name="1_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square">
        <a:noAutofit/>
      </a:bodyPr>
      <a:lstStyle>
        <a:defPPr algn="just">
          <a:lnSpc>
            <a:spcPct val="130000"/>
          </a:lnSpc>
          <a:defRPr sz="1400" b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433</Words>
  <Application>Microsoft Office PowerPoint</Application>
  <PresentationFormat>宽屏</PresentationFormat>
  <Paragraphs>30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等线</vt:lpstr>
      <vt:lpstr>等线 Light</vt:lpstr>
      <vt:lpstr>宋体</vt:lpstr>
      <vt:lpstr>微软雅黑</vt:lpstr>
      <vt:lpstr>Arial</vt:lpstr>
      <vt:lpstr>Calibri</vt:lpstr>
      <vt:lpstr>Calibri Light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ZOU</dc:creator>
  <cp:lastModifiedBy>Windows 用户</cp:lastModifiedBy>
  <cp:revision>2424</cp:revision>
  <dcterms:created xsi:type="dcterms:W3CDTF">2025-06-24T03:40:00Z</dcterms:created>
  <dcterms:modified xsi:type="dcterms:W3CDTF">2026-06-03T05:08:07Z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07BC5CB77D7A4BCBABD3A9D9E55BA560_13</vt:lpwstr>
  </property>
  <property fmtid="{D5CDD505-2E9C-101B-9397-08002B2CF9AE}" pid="3" name="KSOProductBuildVer">
    <vt:lpwstr>2052-12.1.0.25865</vt:lpwstr>
  </property>
</Properties>
</file>